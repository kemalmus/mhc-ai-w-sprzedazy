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1aace1ec3a4c97" /><Relationship Type="http://schemas.openxmlformats.org/officeDocument/2006/relationships/extended-properties" Target="/docProps/app.xml" Id="Rde7ac8a3d5a445b2" /><Relationship Type="http://schemas.openxmlformats.org/officeDocument/2006/relationships/officeDocument" Target="/ppt/presentation.xml" Id="R84ea9d205f1140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7c4ed1f4ad4951"/>
  </p:sldMasterIdLst>
  <p:notesMasterIdLst>
    <p:notesMasterId xmlns:r="http://schemas.openxmlformats.org/officeDocument/2006/relationships" r:id="R22feb4adbed34a74"/>
  </p:notesMasterIdLst>
  <p:sldIdLst>
    <p:sldId xmlns:r="http://schemas.openxmlformats.org/officeDocument/2006/relationships" id="256" r:id="Rdafdf9b5f2e346c0"/>
    <p:sldId xmlns:r="http://schemas.openxmlformats.org/officeDocument/2006/relationships" id="257" r:id="Rd41a004c0ad3405c"/>
    <p:sldId xmlns:r="http://schemas.openxmlformats.org/officeDocument/2006/relationships" id="258" r:id="R0e857284730146df"/>
    <p:sldId xmlns:r="http://schemas.openxmlformats.org/officeDocument/2006/relationships" id="259" r:id="R82e1f0d4ef234d96"/>
    <p:sldId xmlns:r="http://schemas.openxmlformats.org/officeDocument/2006/relationships" id="260" r:id="Rd8bd0034ecde455f"/>
    <p:sldId xmlns:r="http://schemas.openxmlformats.org/officeDocument/2006/relationships" id="261" r:id="R9cd8759ef80441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d9002e39334ca7" /><Relationship Type="http://schemas.openxmlformats.org/officeDocument/2006/relationships/slideMaster" Target="/ppt/slideMasters/slideMaster1.xml" Id="Rd27c4ed1f4ad4951" /><Relationship Type="http://schemas.openxmlformats.org/officeDocument/2006/relationships/notesMaster" Target="/ppt/notesMasters/notesMaster1.xml" Id="R22feb4adbed34a74" /><Relationship Type="http://schemas.openxmlformats.org/officeDocument/2006/relationships/presProps" Target="/ppt/presProps.xml" Id="Re70ac8764cef4b60" /><Relationship Type="http://schemas.openxmlformats.org/officeDocument/2006/relationships/tableStyles" Target="/ppt/tableStyles.xml" Id="R7d5b1bae89864e6a" /><Relationship Type="http://schemas.openxmlformats.org/officeDocument/2006/relationships/slide" Target="/ppt/slides/slide1.xml" Id="Rdafdf9b5f2e346c0" /><Relationship Type="http://schemas.openxmlformats.org/officeDocument/2006/relationships/slide" Target="/ppt/slides/slide2.xml" Id="Rd41a004c0ad3405c" /><Relationship Type="http://schemas.openxmlformats.org/officeDocument/2006/relationships/slide" Target="/ppt/slides/slide3.xml" Id="R0e857284730146df" /><Relationship Type="http://schemas.openxmlformats.org/officeDocument/2006/relationships/slide" Target="/ppt/slides/slide4.xml" Id="R82e1f0d4ef234d96" /><Relationship Type="http://schemas.openxmlformats.org/officeDocument/2006/relationships/slide" Target="/ppt/slides/slide5.xml" Id="Rd8bd0034ecde455f" /><Relationship Type="http://schemas.openxmlformats.org/officeDocument/2006/relationships/slide" Target="/ppt/slides/slide6.xml" Id="R9cd8759ef80441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9c34b2bc7343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dd2679cb9b44ed" /><Relationship Type="http://schemas.openxmlformats.org/officeDocument/2006/relationships/notesMaster" Target="/ppt/notesMasters/notesMaster1.xml" Id="R384138ee995f4f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9274178d334f21" /><Relationship Type="http://schemas.openxmlformats.org/officeDocument/2006/relationships/notesMaster" Target="/ppt/notesMasters/notesMaster1.xml" Id="R900d70236b7546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01bc72e8a847f8" /><Relationship Type="http://schemas.openxmlformats.org/officeDocument/2006/relationships/notesMaster" Target="/ppt/notesMasters/notesMaster1.xml" Id="R526ec3a5734746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76ce65e2044abf" /><Relationship Type="http://schemas.openxmlformats.org/officeDocument/2006/relationships/notesMaster" Target="/ppt/notesMasters/notesMaster1.xml" Id="R47f3b17f034544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12d311a5cb44be" /><Relationship Type="http://schemas.openxmlformats.org/officeDocument/2006/relationships/notesMaster" Target="/ppt/notesMasters/notesMaster1.xml" Id="Rc6041b3c6afd45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c7e9615e534fc4" /><Relationship Type="http://schemas.openxmlformats.org/officeDocument/2006/relationships/notesMaster" Target="/ppt/notesMasters/notesMaster1.xml" Id="R56d0660dc6f24c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a2b83ac4446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b1e030b6945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6d65f0f864f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52f36edcb4c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20b2772924f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91cbac32e44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19D8E2-7922-4F95-A75F-A2DACF8F7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DF8360-B8BB-4BC5-9D36-3543A1E147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96D7E8-9E19-4FE0-98AC-88E4F4A44D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A50104-464F-43B9-B7C3-9A321038F3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3920E2-475C-4C81-9D54-F0BC04938A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1F7B98-AF8D-40FE-99AF-043577327D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18BF39-E4DD-4B4F-8A8A-87F401B52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52EA0F-FE0E-4F88-A648-181ECA3F13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3CAD7A-0FAC-47A5-97A2-BE1EDF6A7E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C9201D-C4F8-4971-834E-45D1976660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1bc0662d4c45e5" /><Relationship Type="http://schemas.openxmlformats.org/officeDocument/2006/relationships/slideLayout" Target="/ppt/slideLayouts/slideLayout1.xml" Id="Rd3cffebda1524588" /><Relationship Type="http://schemas.openxmlformats.org/officeDocument/2006/relationships/slideLayout" Target="/ppt/slideLayouts/slideLayout2.xml" Id="Rbd637e2b5f384ec8" /><Relationship Type="http://schemas.openxmlformats.org/officeDocument/2006/relationships/slideLayout" Target="/ppt/slideLayouts/slideLayout3.xml" Id="Rf028f67faff04447" /><Relationship Type="http://schemas.openxmlformats.org/officeDocument/2006/relationships/slideLayout" Target="/ppt/slideLayouts/slideLayout4.xml" Id="Rb09b0390311b4df0" /><Relationship Type="http://schemas.openxmlformats.org/officeDocument/2006/relationships/slideLayout" Target="/ppt/slideLayouts/slideLayout5.xml" Id="R1c5dc71b4c404beb" /><Relationship Type="http://schemas.openxmlformats.org/officeDocument/2006/relationships/slideLayout" Target="/ppt/slideLayouts/slideLayout6.xml" Id="Rb5beb369175940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cffebda1524588"/>
    <p:sldLayoutId xmlns:r="http://schemas.openxmlformats.org/officeDocument/2006/relationships" id="2147483650" r:id="Rbd637e2b5f384ec8"/>
    <p:sldLayoutId xmlns:r="http://schemas.openxmlformats.org/officeDocument/2006/relationships" id="2147483651" r:id="Rf028f67faff04447"/>
    <p:sldLayoutId xmlns:r="http://schemas.openxmlformats.org/officeDocument/2006/relationships" id="2147483652" r:id="Rb09b0390311b4df0"/>
    <p:sldLayoutId xmlns:r="http://schemas.openxmlformats.org/officeDocument/2006/relationships" id="2147483653" r:id="R1c5dc71b4c404beb"/>
    <p:sldLayoutId xmlns:r="http://schemas.openxmlformats.org/officeDocument/2006/relationships" id="2147483654" r:id="Rb5beb369175940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b78644578416b" /><Relationship Type="http://schemas.openxmlformats.org/officeDocument/2006/relationships/notesSlide" Target="/ppt/notesSlides/notesSlide1.xml" Id="R60c934b1cc0743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39599c64f4e32" /><Relationship Type="http://schemas.openxmlformats.org/officeDocument/2006/relationships/notesSlide" Target="/ppt/notesSlides/notesSlide2.xml" Id="Rdbe8247203ef40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39ce30808b48bf" /><Relationship Type="http://schemas.openxmlformats.org/officeDocument/2006/relationships/notesSlide" Target="/ppt/notesSlides/notesSlide3.xml" Id="R79a0f36cf3a74f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e1b4e03e24e4a" /><Relationship Type="http://schemas.openxmlformats.org/officeDocument/2006/relationships/notesSlide" Target="/ppt/notesSlides/notesSlide4.xml" Id="R9a6c58479bd442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dcb85db7134029" /><Relationship Type="http://schemas.openxmlformats.org/officeDocument/2006/relationships/notesSlide" Target="/ppt/notesSlides/notesSlide5.xml" Id="Rb842d660b6ae40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187dfca6d495a" /><Relationship Type="http://schemas.openxmlformats.org/officeDocument/2006/relationships/notesSlide" Target="/ppt/notesSlides/notesSlide6.xml" Id="R8bc5f64b844b40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raining-label-1">
            <a:extLst xmlns:a="http://schemas.openxmlformats.org/drawingml/2006/main">
              <a:ext uri="{FF2B5EF4-FFF2-40B4-BE49-F238E27FC236}">
                <a16:creationId xmlns:a16="http://schemas.microsoft.com/office/drawing/2014/main" id="{5EB00CCD-4784-4499-B439-85BFC6BD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MATERIAŁ SZKOLENIOWY – DANE FIKCYJNE</a:t>
            </a:r>
          </a:p>
        </p:txBody>
      </p:sp>
      <p:sp>
        <p:nvSpPr>
          <p:cNvPr id="2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9BD287FA-701C-4B94-8F31-70DE8504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"/>
            <a:ext cx="981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01 / 06</a:t>
            </a:r>
          </a:p>
        </p:txBody>
      </p:sp>
      <p:sp>
        <p:nvSpPr>
          <p:cNvPr id="3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3688460D-F8CE-4304-B690-210950D6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0A3FABC0-AB72-473D-BA68-56FD2E63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">
            <a:extLst xmlns:a="http://schemas.openxmlformats.org/drawingml/2006/main">
              <a:ext uri="{FF2B5EF4-FFF2-40B4-BE49-F238E27FC236}">
                <a16:creationId xmlns:a16="http://schemas.microsoft.com/office/drawing/2014/main" id="{602A64FA-7ECF-446A-9EF0-1320FF5D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SZABLON DO UZUPEŁNIENIA</a:t>
            </a:r>
          </a:p>
        </p:txBody>
      </p:sp>
      <p:sp>
        <p:nvSpPr>
          <p:cNvPr id="6" name="fictional-note-1">
            <a:extLst xmlns:a="http://schemas.openxmlformats.org/drawingml/2006/main">
              <a:ext uri="{FF2B5EF4-FFF2-40B4-BE49-F238E27FC236}">
                <a16:creationId xmlns:a16="http://schemas.microsoft.com/office/drawing/2014/main" id="{F7DE9FB3-36B5-4B9F-AE02-15BA575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86525"/>
            <a:ext cx="432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12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12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Dane, osoby i warunki są fikcyjne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2A6530-3A3D-4BBC-A087-1422B14D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3300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Kontekst klienta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B799F68-485E-4706-B543-4E1DCE35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5D6C72"/>
                </a:solidFill>
                <a:latin typeface="Avenir"/>
                <a:ea typeface="Avenir"/>
                <a:cs typeface="Avenir"/>
              </a:rPr>
              <a:t>BudMax Instalacje Sp. z o.o. | rozmowa o flocie</a:t>
            </a:r>
          </a:p>
        </p:txBody>
      </p:sp>
      <p:sp>
        <p:nvSpPr>
          <p:cNvPr id="9" name="vehicle-count">
            <a:extLst xmlns:a="http://schemas.openxmlformats.org/drawingml/2006/main">
              <a:ext uri="{FF2B5EF4-FFF2-40B4-BE49-F238E27FC236}">
                <a16:creationId xmlns:a16="http://schemas.microsoft.com/office/drawing/2014/main" id="{93CC54E1-F624-4B44-8981-9252DD1E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54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54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12 + 2</a:t>
            </a:r>
          </a:p>
        </p:txBody>
      </p:sp>
      <p:sp>
        <p:nvSpPr>
          <p:cNvPr id="10" name="vehicle-count-caption">
            <a:extLst xmlns:a="http://schemas.openxmlformats.org/drawingml/2006/main">
              <a:ext uri="{FF2B5EF4-FFF2-40B4-BE49-F238E27FC236}">
                <a16:creationId xmlns:a16="http://schemas.microsoft.com/office/drawing/2014/main" id="{5F0D3776-6F58-45E4-BE9A-633948F0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95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950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aut dla handlowców + aut dla zarządu</a:t>
            </a:r>
          </a:p>
        </p:txBody>
      </p:sp>
      <p:sp>
        <p:nvSpPr>
          <p:cNvPr id="11" name="company-facts">
            <a:extLst xmlns:a="http://schemas.openxmlformats.org/drawingml/2006/main">
              <a:ext uri="{FF2B5EF4-FFF2-40B4-BE49-F238E27FC236}">
                <a16:creationId xmlns:a16="http://schemas.microsoft.com/office/drawing/2014/main" id="{AD62941F-83EB-49BF-BECA-15BE67BD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004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5D6C72"/>
                </a:solidFill>
                <a:latin typeface="Avenir"/>
                <a:ea typeface="Avenir"/>
                <a:cs typeface="Avenir"/>
              </a:rPr>
              <a:t>Instalacje HVAC  ·  działalność ogólnopolska  ·  ok. 140 pracowników</a:t>
            </a:r>
          </a:p>
        </p:txBody>
      </p:sp>
      <p:sp>
        <p:nvSpPr>
          <p:cNvPr id="12" name="context-divider">
            <a:extLst xmlns:a="http://schemas.openxmlformats.org/drawingml/2006/main">
              <a:ext uri="{FF2B5EF4-FFF2-40B4-BE49-F238E27FC236}">
                <a16:creationId xmlns:a16="http://schemas.microsoft.com/office/drawing/2014/main" id="{997B389E-7327-4580-A422-47192FCA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57425"/>
            <a:ext cx="190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tact-label">
            <a:extLst xmlns:a="http://schemas.openxmlformats.org/drawingml/2006/main">
              <a:ext uri="{FF2B5EF4-FFF2-40B4-BE49-F238E27FC236}">
                <a16:creationId xmlns:a16="http://schemas.microsoft.com/office/drawing/2014/main" id="{18290B1C-9212-4451-A68B-E1698B81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KONTAKT</a:t>
            </a:r>
          </a:p>
        </p:txBody>
      </p:sp>
      <p:sp>
        <p:nvSpPr>
          <p:cNvPr id="14" name="contact-value">
            <a:extLst xmlns:a="http://schemas.openxmlformats.org/drawingml/2006/main">
              <a:ext uri="{FF2B5EF4-FFF2-40B4-BE49-F238E27FC236}">
                <a16:creationId xmlns:a16="http://schemas.microsoft.com/office/drawing/2014/main" id="{D9EB3792-61AC-4186-A7E5-620BB243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Anna Kowalczyk</a:t>
            </a:r>
          </a:p>
          <a:p xmlns:a="http://schemas.openxmlformats.org/drawingml/2006/main">
            <a:pPr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Office &amp; Fleet Manager</a:t>
            </a:r>
          </a:p>
        </p:txBody>
      </p:sp>
      <p:sp>
        <p:nvSpPr>
          <p:cNvPr id="15" name="usage-label">
            <a:extLst xmlns:a="http://schemas.openxmlformats.org/drawingml/2006/main">
              <a:ext uri="{FF2B5EF4-FFF2-40B4-BE49-F238E27FC236}">
                <a16:creationId xmlns:a16="http://schemas.microsoft.com/office/drawing/2014/main" id="{05CDCD4D-7698-4834-9579-21B9D10F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UŻYTKOWANIE</a:t>
            </a:r>
          </a:p>
        </p:txBody>
      </p:sp>
      <p:sp>
        <p:nvSpPr>
          <p:cNvPr id="16" name="usage-value">
            <a:extLst xmlns:a="http://schemas.openxmlformats.org/drawingml/2006/main">
              <a:ext uri="{FF2B5EF4-FFF2-40B4-BE49-F238E27FC236}">
                <a16:creationId xmlns:a16="http://schemas.microsoft.com/office/drawing/2014/main" id="{71A02439-766A-4948-99DE-F951541E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576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Handlowcy: ok. 45 000 km/rok</a:t>
            </a:r>
          </a:p>
          <a:p xmlns:a="http://schemas.openxmlformats.org/drawingml/2006/main">
            <a:pPr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Okres najmu: 48 miesięcy</a:t>
            </a:r>
          </a:p>
        </p:txBody>
      </p:sp>
      <p:sp>
        <p:nvSpPr>
          <p:cNvPr id="17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214153C1-A4A4-4A72-B65B-A5F61199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52950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TERMIN</a:t>
            </a:r>
          </a:p>
        </p:txBody>
      </p:sp>
      <p:sp>
        <p:nvSpPr>
          <p:cNvPr id="18" name="timing-value">
            <a:extLst xmlns:a="http://schemas.openxmlformats.org/drawingml/2006/main">
              <a:ext uri="{FF2B5EF4-FFF2-40B4-BE49-F238E27FC236}">
                <a16:creationId xmlns:a16="http://schemas.microsoft.com/office/drawing/2014/main" id="{C1E06B9F-E997-496F-B628-56E47752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006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Obecny leasing kończy się w lutym</a:t>
            </a:r>
          </a:p>
          <a:p xmlns:a="http://schemas.openxmlformats.org/drawingml/2006/main">
            <a:pPr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Propozycja potrzebna do końca miesiąca</a:t>
            </a:r>
          </a:p>
        </p:txBody>
      </p:sp>
      <p:sp>
        <p:nvSpPr>
          <p:cNvPr id="19" name="brief-note">
            <a:extLst xmlns:a="http://schemas.openxmlformats.org/drawingml/2006/main">
              <a:ext uri="{FF2B5EF4-FFF2-40B4-BE49-F238E27FC236}">
                <a16:creationId xmlns:a16="http://schemas.microsoft.com/office/drawing/2014/main" id="{E07C9C57-4882-4FFF-94FA-F94E085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 i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425" i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425" i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Punkt wyjścia z fikcyjnego briefu szkoleniowego.</a:t>
            </a:r>
          </a:p>
        </p:txBody>
      </p:sp>
    </p:spTree>
    <p:extLst>
      <p:ext uri="{BB962C8B-B14F-4D97-AF65-F5344CB8AC3E}">
        <p14:creationId xmlns:p14="http://schemas.microsoft.com/office/powerpoint/2010/main" val="1373832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raining-label-2">
            <a:extLst xmlns:a="http://schemas.openxmlformats.org/drawingml/2006/main">
              <a:ext uri="{FF2B5EF4-FFF2-40B4-BE49-F238E27FC236}">
                <a16:creationId xmlns:a16="http://schemas.microsoft.com/office/drawing/2014/main" id="{8C345A24-49F4-4865-B5B9-1A9D8A7B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MATERIAŁ SZKOLENIOWY – DANE FIKCYJNE</a:t>
            </a:r>
          </a:p>
        </p:txBody>
      </p:sp>
      <p:sp>
        <p:nvSpPr>
          <p:cNvPr id="2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E377B8AA-F9DA-4D30-89A1-875816AB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"/>
            <a:ext cx="981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02 / 06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95AB5C07-2FD5-444D-AC36-2BA55086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FFC1C2A6-CA02-40C5-9BF2-63AD3913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124EE490-DC94-4C27-BF95-AD5E6702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SZABLON DO UZUPEŁNIENIA</a:t>
            </a:r>
          </a:p>
        </p:txBody>
      </p:sp>
      <p:sp>
        <p:nvSpPr>
          <p:cNvPr id="6" name="fictional-note-2">
            <a:extLst xmlns:a="http://schemas.openxmlformats.org/drawingml/2006/main">
              <a:ext uri="{FF2B5EF4-FFF2-40B4-BE49-F238E27FC236}">
                <a16:creationId xmlns:a16="http://schemas.microsoft.com/office/drawing/2014/main" id="{0FB6B5DF-006F-441D-801C-5D0A1792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86525"/>
            <a:ext cx="432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12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12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Dane, osoby i warunki są fikcyjne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210A98-BAEA-45B7-891B-C0056FF6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3300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Potrzeby i kryteria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B3D0EA-5F32-48DA-BE73-D59FB2E5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5D6C72"/>
                </a:solidFill>
                <a:latin typeface="Avenir"/>
                <a:ea typeface="Avenir"/>
                <a:cs typeface="Avenir"/>
              </a:rPr>
              <a:t>Oddziel wymagania z briefu od informacji, które trzeba jeszcze potwierdzić.</a:t>
            </a:r>
          </a:p>
        </p:txBody>
      </p:sp>
      <p:sp>
        <p:nvSpPr>
          <p:cNvPr id="9" name="known-heading">
            <a:extLst xmlns:a="http://schemas.openxmlformats.org/drawingml/2006/main">
              <a:ext uri="{FF2B5EF4-FFF2-40B4-BE49-F238E27FC236}">
                <a16:creationId xmlns:a16="http://schemas.microsoft.com/office/drawing/2014/main" id="{B5340191-8546-4D55-A704-488D8EBF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75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PODANE W BRIEFIE</a:t>
            </a:r>
          </a:p>
        </p:txBody>
      </p:sp>
      <p:sp>
        <p:nvSpPr>
          <p:cNvPr id="10" name="known-criteria">
            <a:extLst xmlns:a="http://schemas.openxmlformats.org/drawingml/2006/main">
              <a:ext uri="{FF2B5EF4-FFF2-40B4-BE49-F238E27FC236}">
                <a16:creationId xmlns:a16="http://schemas.microsoft.com/office/drawing/2014/main" id="{FB3A4B6E-3553-4262-9B52-98862D76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000625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12 aut dla handlowców + 2 dla zarządu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Kombi lub SUV klasy C; benzyna lub hybryda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Duży bagażnik; hak nie jest potrzebny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Limit: 2 400 zł / mies. dla handlowca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Limit: 4 200 zł / mies. dla auta zarządu</a:t>
            </a:r>
          </a:p>
        </p:txBody>
      </p:sp>
      <p:sp>
        <p:nvSpPr>
          <p:cNvPr id="11" name="criteria-divider">
            <a:extLst xmlns:a="http://schemas.openxmlformats.org/drawingml/2006/main">
              <a:ext uri="{FF2B5EF4-FFF2-40B4-BE49-F238E27FC236}">
                <a16:creationId xmlns:a16="http://schemas.microsoft.com/office/drawing/2014/main" id="{C1EDB07A-7239-4271-99F5-C6AFC5E4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57425"/>
            <a:ext cx="190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pen-heading">
            <a:extLst xmlns:a="http://schemas.openxmlformats.org/drawingml/2006/main">
              <a:ext uri="{FF2B5EF4-FFF2-40B4-BE49-F238E27FC236}">
                <a16:creationId xmlns:a16="http://schemas.microsoft.com/office/drawing/2014/main" id="{38C5E0D2-D816-49E2-BA67-ABD83C35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57425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B16D36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B16D36"/>
                </a:solidFill>
                <a:latin typeface="Avenir"/>
                <a:ea typeface="Avenir"/>
                <a:cs typeface="Avenir"/>
              </a:defRPr>
            </a:pPr>
            <a:r>
              <a:rPr sz="1275" b="1">
                <a:solidFill>
                  <a:srgbClr val="B16D36"/>
                </a:solidFill>
                <a:latin typeface="Avenir"/>
                <a:ea typeface="Avenir"/>
                <a:cs typeface="Avenir"/>
              </a:rPr>
              <a:t>DO DOPRECYZOWANIA</a:t>
            </a:r>
          </a:p>
        </p:txBody>
      </p:sp>
      <p:sp>
        <p:nvSpPr>
          <p:cNvPr id="13" name="open-criteria">
            <a:extLst xmlns:a="http://schemas.openxmlformats.org/drawingml/2006/main">
              <a:ext uri="{FF2B5EF4-FFF2-40B4-BE49-F238E27FC236}">
                <a16:creationId xmlns:a16="http://schemas.microsoft.com/office/drawing/2014/main" id="{EABC80D3-233A-4D31-B0AC-93ED3277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19375"/>
            <a:ext cx="49530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Przebieg i specyfikacja 2 aut zarządu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Zakres serwisu, opon i ubezpieczenia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Warunki auta zastępczego i czas zapewnienia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Dokładny termin przekazania 14 aut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72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Priorytet przy wyborze: koszt, termin czy wyposażenie?</a:t>
            </a:r>
          </a:p>
        </p:txBody>
      </p:sp>
      <p:sp>
        <p:nvSpPr>
          <p:cNvPr id="14" name="budget-note-rule">
            <a:extLst xmlns:a="http://schemas.openxmlformats.org/drawingml/2006/main">
              <a:ext uri="{FF2B5EF4-FFF2-40B4-BE49-F238E27FC236}">
                <a16:creationId xmlns:a16="http://schemas.microsoft.com/office/drawing/2014/main" id="{FD4441D6-15F6-4472-8EDB-EB341D1C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dget-note">
            <a:extLst xmlns:a="http://schemas.openxmlformats.org/drawingml/2006/main">
              <a:ext uri="{FF2B5EF4-FFF2-40B4-BE49-F238E27FC236}">
                <a16:creationId xmlns:a16="http://schemas.microsoft.com/office/drawing/2014/main" id="{369FCE15-EB0C-419B-930F-7F5512D0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572125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Budżet klienta to limit, nie potwierdzona rata.</a:t>
            </a:r>
          </a:p>
        </p:txBody>
      </p:sp>
    </p:spTree>
    <p:extLst>
      <p:ext uri="{BB962C8B-B14F-4D97-AF65-F5344CB8AC3E}">
        <p14:creationId xmlns:p14="http://schemas.microsoft.com/office/powerpoint/2010/main" val="422487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raining-label-3">
            <a:extLst xmlns:a="http://schemas.openxmlformats.org/drawingml/2006/main">
              <a:ext uri="{FF2B5EF4-FFF2-40B4-BE49-F238E27FC236}">
                <a16:creationId xmlns:a16="http://schemas.microsoft.com/office/drawing/2014/main" id="{45526CB7-5762-4911-B54C-C4A078E7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MATERIAŁ SZKOLENIOWY – DANE FIKCYJNE</a:t>
            </a:r>
          </a:p>
        </p:txBody>
      </p:sp>
      <p:sp>
        <p:nvSpPr>
          <p:cNvPr id="2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7E673949-AA5D-4A5E-8305-894443A1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"/>
            <a:ext cx="981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03 / 06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73FAD15C-2FB0-4469-9AA4-3BD2E7A2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5CE87EE0-85DB-43AF-9EC0-6131CC08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60C1FA12-D323-4F9E-838B-88221709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SZABLON DO UZUPEŁNIENIA</a:t>
            </a:r>
          </a:p>
        </p:txBody>
      </p:sp>
      <p:sp>
        <p:nvSpPr>
          <p:cNvPr id="6" name="fictional-note-3">
            <a:extLst xmlns:a="http://schemas.openxmlformats.org/drawingml/2006/main">
              <a:ext uri="{FF2B5EF4-FFF2-40B4-BE49-F238E27FC236}">
                <a16:creationId xmlns:a16="http://schemas.microsoft.com/office/drawing/2014/main" id="{4EBDB8D7-5839-430B-81E5-F9D5DA68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86525"/>
            <a:ext cx="432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12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12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Dane, osoby i warunki są fikcyjne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F30935-8E33-412B-89C6-B86D7B61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3300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Proponowana konfiguracja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4A432B-592A-449F-A763-8200ED8D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5D6C72"/>
                </a:solidFill>
                <a:latin typeface="Avenir"/>
                <a:ea typeface="Avenir"/>
                <a:cs typeface="Avenir"/>
              </a:rPr>
              <a:t>Wypełnij po sprawdzeniu specyfikacji, ceny i dostępności.</a:t>
            </a:r>
          </a:p>
        </p:txBody>
      </p:sp>
      <p:sp>
        <p:nvSpPr>
          <p:cNvPr id="9" name="field-sales-heading">
            <a:extLst xmlns:a="http://schemas.openxmlformats.org/drawingml/2006/main">
              <a:ext uri="{FF2B5EF4-FFF2-40B4-BE49-F238E27FC236}">
                <a16:creationId xmlns:a16="http://schemas.microsoft.com/office/drawing/2014/main" id="{AE2F7C7E-E6D0-4786-AAAB-8385CBDA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12 AUT HANDLOWCÓW</a:t>
            </a:r>
          </a:p>
        </p:txBody>
      </p:sp>
      <p:sp>
        <p:nvSpPr>
          <p:cNvPr id="10" name="field-sales-config">
            <a:extLst xmlns:a="http://schemas.openxmlformats.org/drawingml/2006/main">
              <a:ext uri="{FF2B5EF4-FFF2-40B4-BE49-F238E27FC236}">
                <a16:creationId xmlns:a16="http://schemas.microsoft.com/office/drawing/2014/main" id="{1F02A3C0-0838-44AE-8445-57C5B326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000625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Nadwozie / klasa   Kombi lub SUV klasy C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Napęd   Benzyna lub hybryda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Model / wersja   [do wyceny]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Przebieg   ok. 45 000 km/rok [potwierdzić]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Rata netto   [____] zł/mies. · limit 2 400 zł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Dostawa   [data / termin do potwierdzenia]</a:t>
            </a:r>
          </a:p>
        </p:txBody>
      </p:sp>
      <p:sp>
        <p:nvSpPr>
          <p:cNvPr id="11" name="configuration-divider">
            <a:extLst xmlns:a="http://schemas.openxmlformats.org/drawingml/2006/main">
              <a:ext uri="{FF2B5EF4-FFF2-40B4-BE49-F238E27FC236}">
                <a16:creationId xmlns:a16="http://schemas.microsoft.com/office/drawing/2014/main" id="{3F873D23-10DF-4FED-A1C3-4EE48E33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19325"/>
            <a:ext cx="1905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ard-heading">
            <a:extLst xmlns:a="http://schemas.openxmlformats.org/drawingml/2006/main">
              <a:ext uri="{FF2B5EF4-FFF2-40B4-BE49-F238E27FC236}">
                <a16:creationId xmlns:a16="http://schemas.microsoft.com/office/drawing/2014/main" id="{DE8AC7E2-46C6-4207-83C6-93D62E3C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19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2 AUTA ZARZĄDU</a:t>
            </a:r>
          </a:p>
        </p:txBody>
      </p:sp>
      <p:sp>
        <p:nvSpPr>
          <p:cNvPr id="13" name="board-config">
            <a:extLst xmlns:a="http://schemas.openxmlformats.org/drawingml/2006/main">
              <a:ext uri="{FF2B5EF4-FFF2-40B4-BE49-F238E27FC236}">
                <a16:creationId xmlns:a16="http://schemas.microsoft.com/office/drawing/2014/main" id="{ABC92F03-C5D8-4966-9A6D-D626FB37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667000"/>
            <a:ext cx="4953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Segment / model   [do ustalenia]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Napęd / wyposażenie   [do ustalenia]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Przebieg roczny   [do potwierdzenia]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Rata netto   [____] zł/mies. · limit 4 200 zł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Dostawa   [data / termin do potwierdzenia]</a:t>
            </a:r>
          </a:p>
        </p:txBody>
      </p:sp>
      <p:sp>
        <p:nvSpPr>
          <p:cNvPr id="14" name="variant-rule">
            <a:extLst xmlns:a="http://schemas.openxmlformats.org/drawingml/2006/main">
              <a:ext uri="{FF2B5EF4-FFF2-40B4-BE49-F238E27FC236}">
                <a16:creationId xmlns:a16="http://schemas.microsoft.com/office/drawing/2014/main" id="{6E406638-52B9-45B1-B4F6-4EBD7886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variant-label">
            <a:extLst xmlns:a="http://schemas.openxmlformats.org/drawingml/2006/main">
              <a:ext uri="{FF2B5EF4-FFF2-40B4-BE49-F238E27FC236}">
                <a16:creationId xmlns:a16="http://schemas.microsoft.com/office/drawing/2014/main" id="{FFE7B196-D13C-4514-9BCB-F40F45A0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WARIANT [A / B]</a:t>
            </a:r>
          </a:p>
        </p:txBody>
      </p:sp>
      <p:sp>
        <p:nvSpPr>
          <p:cNvPr id="16" name="variant-placeholder">
            <a:extLst xmlns:a="http://schemas.openxmlformats.org/drawingml/2006/main">
              <a:ext uri="{FF2B5EF4-FFF2-40B4-BE49-F238E27FC236}">
                <a16:creationId xmlns:a16="http://schemas.microsoft.com/office/drawing/2014/main" id="{E0B5E107-4E92-400D-BB02-556FD02E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73405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5D6C72"/>
                </a:solidFill>
                <a:latin typeface="Avenir"/>
                <a:ea typeface="Avenir"/>
                <a:cs typeface="Avenir"/>
              </a:rPr>
              <a:t>[Nazwa rozwiązania i krótkie uzasadnienie dla BudMax]</a:t>
            </a:r>
          </a:p>
        </p:txBody>
      </p:sp>
    </p:spTree>
    <p:extLst>
      <p:ext uri="{BB962C8B-B14F-4D97-AF65-F5344CB8AC3E}">
        <p14:creationId xmlns:p14="http://schemas.microsoft.com/office/powerpoint/2010/main" val="1232092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raining-label-4">
            <a:extLst xmlns:a="http://schemas.openxmlformats.org/drawingml/2006/main">
              <a:ext uri="{FF2B5EF4-FFF2-40B4-BE49-F238E27FC236}">
                <a16:creationId xmlns:a16="http://schemas.microsoft.com/office/drawing/2014/main" id="{3A3FD44D-B7D3-466C-B128-F3B5D424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MATERIAŁ SZKOLENIOWY – DANE FIKCYJNE</a:t>
            </a:r>
          </a:p>
        </p:txBody>
      </p:sp>
      <p:sp>
        <p:nvSpPr>
          <p:cNvPr id="2" name="page-number-4">
            <a:extLst xmlns:a="http://schemas.openxmlformats.org/drawingml/2006/main">
              <a:ext uri="{FF2B5EF4-FFF2-40B4-BE49-F238E27FC236}">
                <a16:creationId xmlns:a16="http://schemas.microsoft.com/office/drawing/2014/main" id="{1A107BAA-6FF8-4CEE-8F3F-A73ED3C1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"/>
            <a:ext cx="981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04 / 06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4550FAD4-565D-4934-8C3F-6B263B32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5A5704C5-B368-45F6-91C7-6E31E9A3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7E9BA887-C44B-4F6A-8951-3CA79C74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SZABLON DO UZUPEŁNIENIA</a:t>
            </a:r>
          </a:p>
        </p:txBody>
      </p:sp>
      <p:sp>
        <p:nvSpPr>
          <p:cNvPr id="6" name="fictional-note-4">
            <a:extLst xmlns:a="http://schemas.openxmlformats.org/drawingml/2006/main">
              <a:ext uri="{FF2B5EF4-FFF2-40B4-BE49-F238E27FC236}">
                <a16:creationId xmlns:a16="http://schemas.microsoft.com/office/drawing/2014/main" id="{2AEC8386-391B-4A0F-9848-5E2C7772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86525"/>
            <a:ext cx="432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12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12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Dane, osoby i warunki są fikcyjne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F3C04C-DB6B-4E54-9AF4-BDD8523A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3300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Wartość poza miesięczną ratą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B4CC73-5475-4C9B-9DDC-48878960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5D6C72"/>
                </a:solidFill>
                <a:latin typeface="Avenir"/>
                <a:ea typeface="Avenir"/>
                <a:cs typeface="Avenir"/>
              </a:rPr>
              <a:t>Pokaż zakres oferty i wpływ na codzienną pracę floty.</a:t>
            </a:r>
          </a:p>
        </p:txBody>
      </p:sp>
      <p:sp>
        <p:nvSpPr>
          <p:cNvPr id="9" name="value-heading-0">
            <a:extLst xmlns:a="http://schemas.openxmlformats.org/drawingml/2006/main">
              <a:ext uri="{FF2B5EF4-FFF2-40B4-BE49-F238E27FC236}">
                <a16:creationId xmlns:a16="http://schemas.microsoft.com/office/drawing/2014/main" id="{B0D5D91E-5167-4447-A8D9-831742E0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CIĄGŁOŚĆ PRACY</a:t>
            </a:r>
          </a:p>
        </p:txBody>
      </p:sp>
      <p:sp>
        <p:nvSpPr>
          <p:cNvPr id="10" name="value-detail-0">
            <a:extLst xmlns:a="http://schemas.openxmlformats.org/drawingml/2006/main">
              <a:ext uri="{FF2B5EF4-FFF2-40B4-BE49-F238E27FC236}">
                <a16:creationId xmlns:a16="http://schemas.microsoft.com/office/drawing/2014/main" id="{FCEAE4A6-04F8-446A-AAF4-FED48FD6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574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Auto zastępcze / czas zapewnienia: [____]</a:t>
            </a:r>
          </a:p>
        </p:txBody>
      </p:sp>
      <p:sp>
        <p:nvSpPr>
          <p:cNvPr id="11" name="value-outcome-0">
            <a:extLst xmlns:a="http://schemas.openxmlformats.org/drawingml/2006/main">
              <a:ext uri="{FF2B5EF4-FFF2-40B4-BE49-F238E27FC236}">
                <a16:creationId xmlns:a16="http://schemas.microsoft.com/office/drawing/2014/main" id="{BC422BC2-63BA-4CF6-9B1D-445FC204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Znaczenie dla tras handlowców: [____]</a:t>
            </a:r>
          </a:p>
        </p:txBody>
      </p:sp>
      <p:sp>
        <p:nvSpPr>
          <p:cNvPr id="12" name="value-row-rule-0">
            <a:extLst xmlns:a="http://schemas.openxmlformats.org/drawingml/2006/main">
              <a:ext uri="{FF2B5EF4-FFF2-40B4-BE49-F238E27FC236}">
                <a16:creationId xmlns:a16="http://schemas.microsoft.com/office/drawing/2014/main" id="{0C20BABA-783D-4D35-86A1-BC3287B3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ue-heading-1">
            <a:extLst xmlns:a="http://schemas.openxmlformats.org/drawingml/2006/main">
              <a:ext uri="{FF2B5EF4-FFF2-40B4-BE49-F238E27FC236}">
                <a16:creationId xmlns:a16="http://schemas.microsoft.com/office/drawing/2014/main" id="{75A65A74-D537-4C94-A6CA-2C5A277D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ZAKRES UMOWY</a:t>
            </a:r>
          </a:p>
        </p:txBody>
      </p:sp>
      <p:sp>
        <p:nvSpPr>
          <p:cNvPr id="14" name="value-detail-1">
            <a:extLst xmlns:a="http://schemas.openxmlformats.org/drawingml/2006/main">
              <a:ext uri="{FF2B5EF4-FFF2-40B4-BE49-F238E27FC236}">
                <a16:creationId xmlns:a16="http://schemas.microsoft.com/office/drawing/2014/main" id="{2166B40C-C7B4-47FB-81E7-62071067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99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Serwis, opony, ubezpieczenie: [____]</a:t>
            </a:r>
          </a:p>
        </p:txBody>
      </p:sp>
      <p:sp>
        <p:nvSpPr>
          <p:cNvPr id="15" name="value-outcome-1">
            <a:extLst xmlns:a="http://schemas.openxmlformats.org/drawingml/2006/main">
              <a:ext uri="{FF2B5EF4-FFF2-40B4-BE49-F238E27FC236}">
                <a16:creationId xmlns:a16="http://schemas.microsoft.com/office/drawing/2014/main" id="{08E6AC9F-C37E-4044-9776-4DE2EB0C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992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Wyłączenia i dopłaty: [____]</a:t>
            </a:r>
          </a:p>
        </p:txBody>
      </p:sp>
      <p:sp>
        <p:nvSpPr>
          <p:cNvPr id="16" name="value-row-rule-1">
            <a:extLst xmlns:a="http://schemas.openxmlformats.org/drawingml/2006/main">
              <a:ext uri="{FF2B5EF4-FFF2-40B4-BE49-F238E27FC236}">
                <a16:creationId xmlns:a16="http://schemas.microsoft.com/office/drawing/2014/main" id="{ACBB3325-71B4-42E2-9383-5FCBE2A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value-heading-2">
            <a:extLst xmlns:a="http://schemas.openxmlformats.org/drawingml/2006/main">
              <a:ext uri="{FF2B5EF4-FFF2-40B4-BE49-F238E27FC236}">
                <a16:creationId xmlns:a16="http://schemas.microsoft.com/office/drawing/2014/main" id="{4F61A324-932E-4922-AE9F-3FDB0496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KOSZT CAŁOŚCIOWY</a:t>
            </a:r>
          </a:p>
        </p:txBody>
      </p:sp>
      <p:sp>
        <p:nvSpPr>
          <p:cNvPr id="18" name="value-detail-2">
            <a:extLst xmlns:a="http://schemas.openxmlformats.org/drawingml/2006/main">
              <a:ext uri="{FF2B5EF4-FFF2-40B4-BE49-F238E27FC236}">
                <a16:creationId xmlns:a16="http://schemas.microsoft.com/office/drawing/2014/main" id="{5A9D1132-3FEC-4C01-B3EA-09318CCD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624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Limit km i koszt nadprzebiegu: [____]</a:t>
            </a:r>
          </a:p>
        </p:txBody>
      </p:sp>
      <p:sp>
        <p:nvSpPr>
          <p:cNvPr id="19" name="value-outcome-2">
            <a:extLst xmlns:a="http://schemas.openxmlformats.org/drawingml/2006/main">
              <a:ext uri="{FF2B5EF4-FFF2-40B4-BE49-F238E27FC236}">
                <a16:creationId xmlns:a16="http://schemas.microsoft.com/office/drawing/2014/main" id="{C08A50E4-6B98-430B-BF15-16866B07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6242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Opłaty, zwrot auta, inne koszty: [____]</a:t>
            </a:r>
          </a:p>
        </p:txBody>
      </p:sp>
      <p:sp>
        <p:nvSpPr>
          <p:cNvPr id="20" name="value-row-rule-2">
            <a:extLst xmlns:a="http://schemas.openxmlformats.org/drawingml/2006/main">
              <a:ext uri="{FF2B5EF4-FFF2-40B4-BE49-F238E27FC236}">
                <a16:creationId xmlns:a16="http://schemas.microsoft.com/office/drawing/2014/main" id="{3AB207AF-5A78-4CDE-A49C-3614670A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alue-heading-3">
            <a:extLst xmlns:a="http://schemas.openxmlformats.org/drawingml/2006/main">
              <a:ext uri="{FF2B5EF4-FFF2-40B4-BE49-F238E27FC236}">
                <a16:creationId xmlns:a16="http://schemas.microsoft.com/office/drawing/2014/main" id="{445BFF65-5ACF-4175-9FEA-F575AFA7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DOPASOWANIE</a:t>
            </a:r>
          </a:p>
        </p:txBody>
      </p:sp>
      <p:sp>
        <p:nvSpPr>
          <p:cNvPr id="22" name="value-detail-3">
            <a:extLst xmlns:a="http://schemas.openxmlformats.org/drawingml/2006/main">
              <a:ext uri="{FF2B5EF4-FFF2-40B4-BE49-F238E27FC236}">
                <a16:creationId xmlns:a16="http://schemas.microsoft.com/office/drawing/2014/main" id="{D8E1D166-25CA-42B6-BD3D-C98E8909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149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192C3A"/>
                </a:solidFill>
                <a:latin typeface="Avenir"/>
                <a:ea typeface="Avenir"/>
                <a:cs typeface="Avenir"/>
              </a:rPr>
              <a:t>Bagażnik i wyposażenie: [____]</a:t>
            </a:r>
          </a:p>
        </p:txBody>
      </p:sp>
      <p:sp>
        <p:nvSpPr>
          <p:cNvPr id="23" name="value-outcome-3">
            <a:extLst xmlns:a="http://schemas.openxmlformats.org/drawingml/2006/main">
              <a:ext uri="{FF2B5EF4-FFF2-40B4-BE49-F238E27FC236}">
                <a16:creationId xmlns:a16="http://schemas.microsoft.com/office/drawing/2014/main" id="{C2C424E1-AB4D-4F8A-9881-8F03510C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14925"/>
            <a:ext cx="3409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Potwierdzone przez klienta: [____]</a:t>
            </a:r>
          </a:p>
        </p:txBody>
      </p:sp>
      <p:sp>
        <p:nvSpPr>
          <p:cNvPr id="24" name="value-summary-label">
            <a:extLst xmlns:a="http://schemas.openxmlformats.org/drawingml/2006/main">
              <a:ext uri="{FF2B5EF4-FFF2-40B4-BE49-F238E27FC236}">
                <a16:creationId xmlns:a16="http://schemas.microsoft.com/office/drawing/2014/main" id="{203EA4C4-96EC-44B6-960F-E596C449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B16D36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B16D36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B16D36"/>
                </a:solidFill>
                <a:latin typeface="Avenir"/>
                <a:ea typeface="Avenir"/>
                <a:cs typeface="Avenir"/>
              </a:rPr>
              <a:t>WNIOSKI DLA KLIENTA</a:t>
            </a:r>
          </a:p>
        </p:txBody>
      </p:sp>
      <p:sp>
        <p:nvSpPr>
          <p:cNvPr id="25" name="value-summary">
            <a:extLst xmlns:a="http://schemas.openxmlformats.org/drawingml/2006/main">
              <a:ext uri="{FF2B5EF4-FFF2-40B4-BE49-F238E27FC236}">
                <a16:creationId xmlns:a16="http://schemas.microsoft.com/office/drawing/2014/main" id="{9802D4B6-C959-459E-AC52-50B3DE54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048375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[Wpisz korzyść popartą warunkami konkretnej oferty.]</a:t>
            </a:r>
          </a:p>
        </p:txBody>
      </p:sp>
    </p:spTree>
    <p:extLst>
      <p:ext uri="{BB962C8B-B14F-4D97-AF65-F5344CB8AC3E}">
        <p14:creationId xmlns:p14="http://schemas.microsoft.com/office/powerpoint/2010/main" val="1516740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raining-label-5">
            <a:extLst xmlns:a="http://schemas.openxmlformats.org/drawingml/2006/main">
              <a:ext uri="{FF2B5EF4-FFF2-40B4-BE49-F238E27FC236}">
                <a16:creationId xmlns:a16="http://schemas.microsoft.com/office/drawing/2014/main" id="{F903B37A-A8BA-4837-A4DB-A6E6B71A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MATERIAŁ SZKOLENIOWY – DANE FIKCYJNE</a:t>
            </a:r>
          </a:p>
        </p:txBody>
      </p:sp>
      <p:sp>
        <p:nvSpPr>
          <p:cNvPr id="2" name="page-number-5">
            <a:extLst xmlns:a="http://schemas.openxmlformats.org/drawingml/2006/main">
              <a:ext uri="{FF2B5EF4-FFF2-40B4-BE49-F238E27FC236}">
                <a16:creationId xmlns:a16="http://schemas.microsoft.com/office/drawing/2014/main" id="{535275A4-429E-4C06-84D8-0384C87B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"/>
            <a:ext cx="981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05 / 06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11E5E2F9-3B8F-4256-A100-F9AE8FAE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795344DB-68A0-4A5F-A558-7142F906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C09CF3C0-F101-4764-8B0D-5413AAD7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SZABLON DO UZUPEŁNIENIA</a:t>
            </a:r>
          </a:p>
        </p:txBody>
      </p:sp>
      <p:sp>
        <p:nvSpPr>
          <p:cNvPr id="6" name="fictional-note-5">
            <a:extLst xmlns:a="http://schemas.openxmlformats.org/drawingml/2006/main">
              <a:ext uri="{FF2B5EF4-FFF2-40B4-BE49-F238E27FC236}">
                <a16:creationId xmlns:a16="http://schemas.microsoft.com/office/drawing/2014/main" id="{35DC6673-2F97-4E0E-AA1C-1B35805A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86525"/>
            <a:ext cx="432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12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12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Dane, osoby i warunki są fikcyjne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7D14D6-4A09-4641-8A74-911DC1E2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3300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Ryzyka i decyzje otwarte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9DE0C3-7DC1-4C79-A9B9-4B96E81A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5D6C72"/>
                </a:solidFill>
                <a:latin typeface="Avenir"/>
                <a:ea typeface="Avenir"/>
                <a:cs typeface="Avenir"/>
              </a:rPr>
              <a:t>Zamknij luki przed przedstawieniem oferty jako gotowej.</a:t>
            </a:r>
          </a:p>
        </p:txBody>
      </p:sp>
      <p:sp>
        <p:nvSpPr>
          <p:cNvPr id="9" name="risk-col-1">
            <a:extLst xmlns:a="http://schemas.openxmlformats.org/drawingml/2006/main">
              <a:ext uri="{FF2B5EF4-FFF2-40B4-BE49-F238E27FC236}">
                <a16:creationId xmlns:a16="http://schemas.microsoft.com/office/drawing/2014/main" id="{4D785489-9A15-4CE3-9005-0025D1F2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OBSZAR</a:t>
            </a:r>
          </a:p>
        </p:txBody>
      </p:sp>
      <p:sp>
        <p:nvSpPr>
          <p:cNvPr id="10" name="risk-col-2">
            <a:extLst xmlns:a="http://schemas.openxmlformats.org/drawingml/2006/main">
              <a:ext uri="{FF2B5EF4-FFF2-40B4-BE49-F238E27FC236}">
                <a16:creationId xmlns:a16="http://schemas.microsoft.com/office/drawing/2014/main" id="{0B2C5CCE-33AA-4E07-8243-DAA10E30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81225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CO POTWIERDZIĆ</a:t>
            </a:r>
          </a:p>
        </p:txBody>
      </p:sp>
      <p:sp>
        <p:nvSpPr>
          <p:cNvPr id="11" name="risk-col-3">
            <a:extLst xmlns:a="http://schemas.openxmlformats.org/drawingml/2006/main">
              <a:ext uri="{FF2B5EF4-FFF2-40B4-BE49-F238E27FC236}">
                <a16:creationId xmlns:a16="http://schemas.microsoft.com/office/drawing/2014/main" id="{79C3F3DD-F3BB-4AA6-8418-944FBA86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8122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WŁAŚCICIEL / TERMIN</a:t>
            </a:r>
          </a:p>
        </p:txBody>
      </p:sp>
      <p:sp>
        <p:nvSpPr>
          <p:cNvPr id="12" name="risk-area-0">
            <a:extLst xmlns:a="http://schemas.openxmlformats.org/drawingml/2006/main">
              <a:ext uri="{FF2B5EF4-FFF2-40B4-BE49-F238E27FC236}">
                <a16:creationId xmlns:a16="http://schemas.microsoft.com/office/drawing/2014/main" id="{D605CC58-2302-4551-B244-1A8D97B3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Przebieg</a:t>
            </a:r>
          </a:p>
        </p:txBody>
      </p:sp>
      <p:sp>
        <p:nvSpPr>
          <p:cNvPr id="13" name="risk-check-0">
            <a:extLst xmlns:a="http://schemas.openxmlformats.org/drawingml/2006/main">
              <a:ext uri="{FF2B5EF4-FFF2-40B4-BE49-F238E27FC236}">
                <a16:creationId xmlns:a16="http://schemas.microsoft.com/office/drawing/2014/main" id="{D58FA607-BDC0-4DD6-AEC3-5E054C4F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81275"/>
            <a:ext cx="5695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45 000 km/rok dotyczy handlowców; potwierdź limit dla każdej grupy aut.</a:t>
            </a:r>
          </a:p>
        </p:txBody>
      </p:sp>
      <p:sp>
        <p:nvSpPr>
          <p:cNvPr id="14" name="risk-owner-0">
            <a:extLst xmlns:a="http://schemas.openxmlformats.org/drawingml/2006/main">
              <a:ext uri="{FF2B5EF4-FFF2-40B4-BE49-F238E27FC236}">
                <a16:creationId xmlns:a16="http://schemas.microsoft.com/office/drawing/2014/main" id="{8F798BF0-2586-4A47-AD0C-8C16D848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[____] / [data]</a:t>
            </a:r>
          </a:p>
        </p:txBody>
      </p:sp>
      <p:sp>
        <p:nvSpPr>
          <p:cNvPr id="15" name="risk-row-rule-0">
            <a:extLst xmlns:a="http://schemas.openxmlformats.org/drawingml/2006/main">
              <a:ext uri="{FF2B5EF4-FFF2-40B4-BE49-F238E27FC236}">
                <a16:creationId xmlns:a16="http://schemas.microsoft.com/office/drawing/2014/main" id="{9EB92675-BB5E-4CF6-95FC-D537F886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isk-area-1">
            <a:extLst xmlns:a="http://schemas.openxmlformats.org/drawingml/2006/main">
              <a:ext uri="{FF2B5EF4-FFF2-40B4-BE49-F238E27FC236}">
                <a16:creationId xmlns:a16="http://schemas.microsoft.com/office/drawing/2014/main" id="{266D0F70-2BA1-4016-BE3C-F562C163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Auta zarządu</a:t>
            </a:r>
          </a:p>
        </p:txBody>
      </p:sp>
      <p:sp>
        <p:nvSpPr>
          <p:cNvPr id="17" name="risk-check-1">
            <a:extLst xmlns:a="http://schemas.openxmlformats.org/drawingml/2006/main">
              <a:ext uri="{FF2B5EF4-FFF2-40B4-BE49-F238E27FC236}">
                <a16:creationId xmlns:a16="http://schemas.microsoft.com/office/drawing/2014/main" id="{F678A68E-EBD5-4849-9412-99CE9793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86125"/>
            <a:ext cx="5695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Segment, wyposażenie i przebieg nie wynikają z briefu.</a:t>
            </a:r>
          </a:p>
        </p:txBody>
      </p:sp>
      <p:sp>
        <p:nvSpPr>
          <p:cNvPr id="18" name="risk-owner-1">
            <a:extLst xmlns:a="http://schemas.openxmlformats.org/drawingml/2006/main">
              <a:ext uri="{FF2B5EF4-FFF2-40B4-BE49-F238E27FC236}">
                <a16:creationId xmlns:a16="http://schemas.microsoft.com/office/drawing/2014/main" id="{F728A2D7-8B1E-476D-AB21-9FA3364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[____] / [data]</a:t>
            </a:r>
          </a:p>
        </p:txBody>
      </p:sp>
      <p:sp>
        <p:nvSpPr>
          <p:cNvPr id="19" name="risk-row-rule-1">
            <a:extLst xmlns:a="http://schemas.openxmlformats.org/drawingml/2006/main">
              <a:ext uri="{FF2B5EF4-FFF2-40B4-BE49-F238E27FC236}">
                <a16:creationId xmlns:a16="http://schemas.microsoft.com/office/drawing/2014/main" id="{CC1375BE-4CAC-4861-A6D5-3EAB9A1B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isk-area-2">
            <a:extLst xmlns:a="http://schemas.openxmlformats.org/drawingml/2006/main">
              <a:ext uri="{FF2B5EF4-FFF2-40B4-BE49-F238E27FC236}">
                <a16:creationId xmlns:a16="http://schemas.microsoft.com/office/drawing/2014/main" id="{F3073E0D-986C-4B76-9928-1AEA8AF0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Termin</a:t>
            </a:r>
          </a:p>
        </p:txBody>
      </p:sp>
      <p:sp>
        <p:nvSpPr>
          <p:cNvPr id="21" name="risk-check-2">
            <a:extLst xmlns:a="http://schemas.openxmlformats.org/drawingml/2006/main">
              <a:ext uri="{FF2B5EF4-FFF2-40B4-BE49-F238E27FC236}">
                <a16:creationId xmlns:a16="http://schemas.microsoft.com/office/drawing/2014/main" id="{22F68D7C-C0BA-48FD-9140-293BA433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90975"/>
            <a:ext cx="5695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Potwierdź dokładny koniec leasingu i plan wydania 14 aut.</a:t>
            </a:r>
          </a:p>
        </p:txBody>
      </p:sp>
      <p:sp>
        <p:nvSpPr>
          <p:cNvPr id="22" name="risk-owner-2">
            <a:extLst xmlns:a="http://schemas.openxmlformats.org/drawingml/2006/main">
              <a:ext uri="{FF2B5EF4-FFF2-40B4-BE49-F238E27FC236}">
                <a16:creationId xmlns:a16="http://schemas.microsoft.com/office/drawing/2014/main" id="{FE7928C7-0BA8-4D16-978F-01C4D2B9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195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[____] / [data]</a:t>
            </a:r>
          </a:p>
        </p:txBody>
      </p:sp>
      <p:sp>
        <p:nvSpPr>
          <p:cNvPr id="23" name="risk-row-rule-2">
            <a:extLst xmlns:a="http://schemas.openxmlformats.org/drawingml/2006/main">
              <a:ext uri="{FF2B5EF4-FFF2-40B4-BE49-F238E27FC236}">
                <a16:creationId xmlns:a16="http://schemas.microsoft.com/office/drawing/2014/main" id="{C4276E70-1AC4-4243-A4C5-28A95975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isk-area-3">
            <a:extLst xmlns:a="http://schemas.openxmlformats.org/drawingml/2006/main">
              <a:ext uri="{FF2B5EF4-FFF2-40B4-BE49-F238E27FC236}">
                <a16:creationId xmlns:a16="http://schemas.microsoft.com/office/drawing/2014/main" id="{15C14C90-4421-4BFB-B23F-5979F58D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Warunki</a:t>
            </a:r>
          </a:p>
        </p:txBody>
      </p:sp>
      <p:sp>
        <p:nvSpPr>
          <p:cNvPr id="25" name="risk-check-3">
            <a:extLst xmlns:a="http://schemas.openxmlformats.org/drawingml/2006/main">
              <a:ext uri="{FF2B5EF4-FFF2-40B4-BE49-F238E27FC236}">
                <a16:creationId xmlns:a16="http://schemas.microsoft.com/office/drawing/2014/main" id="{9494DFE1-65CD-4ABF-8A96-B84D641F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95825"/>
            <a:ext cx="5695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Rata, zakres usług, nadprzebieg i opłaty wymagają porównania.</a:t>
            </a:r>
          </a:p>
        </p:txBody>
      </p:sp>
      <p:sp>
        <p:nvSpPr>
          <p:cNvPr id="26" name="risk-owner-3">
            <a:extLst xmlns:a="http://schemas.openxmlformats.org/drawingml/2006/main">
              <a:ext uri="{FF2B5EF4-FFF2-40B4-BE49-F238E27FC236}">
                <a16:creationId xmlns:a16="http://schemas.microsoft.com/office/drawing/2014/main" id="{86305D09-2564-49E8-9053-D36F9FA6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2440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[____] / [data]</a:t>
            </a:r>
          </a:p>
        </p:txBody>
      </p:sp>
      <p:sp>
        <p:nvSpPr>
          <p:cNvPr id="27" name="risk-row-rule-3">
            <a:extLst xmlns:a="http://schemas.openxmlformats.org/drawingml/2006/main">
              <a:ext uri="{FF2B5EF4-FFF2-40B4-BE49-F238E27FC236}">
                <a16:creationId xmlns:a16="http://schemas.microsoft.com/office/drawing/2014/main" id="{814285C9-02D9-48B7-B449-CFA3FF66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isk-area-4">
            <a:extLst xmlns:a="http://schemas.openxmlformats.org/drawingml/2006/main">
              <a:ext uri="{FF2B5EF4-FFF2-40B4-BE49-F238E27FC236}">
                <a16:creationId xmlns:a16="http://schemas.microsoft.com/office/drawing/2014/main" id="{B7C02288-42D3-463E-AF07-804A9F72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Dostępność</a:t>
            </a:r>
          </a:p>
        </p:txBody>
      </p:sp>
      <p:sp>
        <p:nvSpPr>
          <p:cNvPr id="29" name="risk-check-4">
            <a:extLst xmlns:a="http://schemas.openxmlformats.org/drawingml/2006/main">
              <a:ext uri="{FF2B5EF4-FFF2-40B4-BE49-F238E27FC236}">
                <a16:creationId xmlns:a16="http://schemas.microsoft.com/office/drawing/2014/main" id="{60BF1CF9-4FA9-4088-95E7-FBD60AD2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400675"/>
            <a:ext cx="56959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192C3A"/>
                </a:solidFill>
                <a:latin typeface="Avenir"/>
                <a:ea typeface="Avenir"/>
                <a:cs typeface="Avenir"/>
              </a:rPr>
              <a:t>Model, cena i termin dostawy muszą wynikać z aktualnej oferty.</a:t>
            </a:r>
          </a:p>
        </p:txBody>
      </p:sp>
      <p:sp>
        <p:nvSpPr>
          <p:cNvPr id="30" name="risk-owner-4">
            <a:extLst xmlns:a="http://schemas.openxmlformats.org/drawingml/2006/main">
              <a:ext uri="{FF2B5EF4-FFF2-40B4-BE49-F238E27FC236}">
                <a16:creationId xmlns:a16="http://schemas.microsoft.com/office/drawing/2014/main" id="{E5631D74-BE0E-48D8-AAE1-549E8553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29250"/>
            <a:ext cx="2457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5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57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[____] / [data]</a:t>
            </a:r>
          </a:p>
        </p:txBody>
      </p:sp>
      <p:sp>
        <p:nvSpPr>
          <p:cNvPr id="31" name="risk-note">
            <a:extLst xmlns:a="http://schemas.openxmlformats.org/drawingml/2006/main">
              <a:ext uri="{FF2B5EF4-FFF2-40B4-BE49-F238E27FC236}">
                <a16:creationId xmlns:a16="http://schemas.microsoft.com/office/drawing/2014/main" id="{6E495934-8318-4656-AA84-3A1C9A8A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B16D36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B16D36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B16D36"/>
                </a:solidFill>
                <a:latin typeface="Avenir"/>
                <a:ea typeface="Avenir"/>
                <a:cs typeface="Avenir"/>
              </a:rPr>
              <a:t>Nie wpisuj ceny, terminu ani dostępności bez źródła i daty potwierdzenia.</a:t>
            </a:r>
          </a:p>
        </p:txBody>
      </p:sp>
    </p:spTree>
    <p:extLst>
      <p:ext uri="{BB962C8B-B14F-4D97-AF65-F5344CB8AC3E}">
        <p14:creationId xmlns:p14="http://schemas.microsoft.com/office/powerpoint/2010/main" val="447593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raining-label-6">
            <a:extLst xmlns:a="http://schemas.openxmlformats.org/drawingml/2006/main">
              <a:ext uri="{FF2B5EF4-FFF2-40B4-BE49-F238E27FC236}">
                <a16:creationId xmlns:a16="http://schemas.microsoft.com/office/drawing/2014/main" id="{15BB9EDD-0FD3-4685-9A74-4C9C78A2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MATERIAŁ SZKOLENIOWY – DANE FIKCYJNE</a:t>
            </a:r>
          </a:p>
        </p:txBody>
      </p:sp>
      <p:sp>
        <p:nvSpPr>
          <p:cNvPr id="2" name="page-number-6">
            <a:extLst xmlns:a="http://schemas.openxmlformats.org/drawingml/2006/main">
              <a:ext uri="{FF2B5EF4-FFF2-40B4-BE49-F238E27FC236}">
                <a16:creationId xmlns:a16="http://schemas.microsoft.com/office/drawing/2014/main" id="{2040227D-A3EF-46A1-930E-AAB01588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5275"/>
            <a:ext cx="981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06 / 06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35792A76-C0A6-4AF4-B6EC-56C27AC7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8DE20B96-D281-4078-BD47-9378F1CB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D4B142A0-F36D-4B94-AB6E-28B0FB0C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125" b="1">
                <a:solidFill>
                  <a:srgbClr val="5D6C72"/>
                </a:solidFill>
                <a:latin typeface="Avenir"/>
                <a:ea typeface="Avenir"/>
                <a:cs typeface="Avenir"/>
              </a:rPr>
              <a:t>SZABLON DO UZUPEŁNIENIA</a:t>
            </a:r>
          </a:p>
        </p:txBody>
      </p:sp>
      <p:sp>
        <p:nvSpPr>
          <p:cNvPr id="6" name="fictional-note-6">
            <a:extLst xmlns:a="http://schemas.openxmlformats.org/drawingml/2006/main">
              <a:ext uri="{FF2B5EF4-FFF2-40B4-BE49-F238E27FC236}">
                <a16:creationId xmlns:a16="http://schemas.microsoft.com/office/drawing/2014/main" id="{7D8F0006-EC56-4041-B56F-04C5C1AB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86525"/>
            <a:ext cx="432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12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12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Dane, osoby i warunki są fikcyjne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246E20-6023-4C4E-846B-5A081A4B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330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3300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Następny krok</a:t>
            </a:r>
          </a:p>
        </p:txBody>
      </p:sp>
      <p:sp>
        <p:nvSpPr>
          <p:cNvPr id="8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D97AD4-3685-44A4-BE2F-5636D51E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5D6C72"/>
                </a:solidFill>
                <a:latin typeface="Avenir"/>
                <a:ea typeface="Avenir"/>
                <a:cs typeface="Avenir"/>
              </a:rPr>
              <a:t>Uzgodnij jedno działanie, właściciela i termin.</a:t>
            </a:r>
          </a:p>
        </p:txBody>
      </p:sp>
      <p:sp>
        <p:nvSpPr>
          <p:cNvPr id="9" name="next-number-0">
            <a:extLst xmlns:a="http://schemas.openxmlformats.org/drawingml/2006/main">
              <a:ext uri="{FF2B5EF4-FFF2-40B4-BE49-F238E27FC236}">
                <a16:creationId xmlns:a16="http://schemas.microsoft.com/office/drawing/2014/main" id="{ACFE5B33-ACFE-4F44-A384-A2DBE03D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2325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0" name="next-heading-0">
            <a:extLst xmlns:a="http://schemas.openxmlformats.org/drawingml/2006/main">
              <a:ext uri="{FF2B5EF4-FFF2-40B4-BE49-F238E27FC236}">
                <a16:creationId xmlns:a16="http://schemas.microsoft.com/office/drawing/2014/main" id="{32CFD9D2-0E42-4A16-B4FE-D077496D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764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875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Potwierdzić brief</a:t>
            </a:r>
          </a:p>
        </p:txBody>
      </p:sp>
      <p:sp>
        <p:nvSpPr>
          <p:cNvPr id="11" name="next-detail-0">
            <a:extLst xmlns:a="http://schemas.openxmlformats.org/drawingml/2006/main">
              <a:ext uri="{FF2B5EF4-FFF2-40B4-BE49-F238E27FC236}">
                <a16:creationId xmlns:a16="http://schemas.microsoft.com/office/drawing/2014/main" id="{CA968C30-E323-42C4-A64D-A38DC04E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764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5D6C72"/>
                </a:solidFill>
                <a:latin typeface="Avenir"/>
                <a:ea typeface="Avenir"/>
                <a:cs typeface="Avenir"/>
              </a:rPr>
              <a:t>Przebieg, wymagania aut zarządu, zakres usług i termin przekazania.</a:t>
            </a:r>
          </a:p>
        </p:txBody>
      </p:sp>
      <p:sp>
        <p:nvSpPr>
          <p:cNvPr id="12" name="next-rule-0">
            <a:extLst xmlns:a="http://schemas.openxmlformats.org/drawingml/2006/main">
              <a:ext uri="{FF2B5EF4-FFF2-40B4-BE49-F238E27FC236}">
                <a16:creationId xmlns:a16="http://schemas.microsoft.com/office/drawing/2014/main" id="{22A31C3C-22AD-40FD-BC53-A3422706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62275"/>
            <a:ext cx="9439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ext-number-1">
            <a:extLst xmlns:a="http://schemas.openxmlformats.org/drawingml/2006/main">
              <a:ext uri="{FF2B5EF4-FFF2-40B4-BE49-F238E27FC236}">
                <a16:creationId xmlns:a16="http://schemas.microsoft.com/office/drawing/2014/main" id="{97CA875B-7F9F-4E08-9EC1-6633FFE9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666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2325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4" name="next-heading-1">
            <a:extLst xmlns:a="http://schemas.openxmlformats.org/drawingml/2006/main">
              <a:ext uri="{FF2B5EF4-FFF2-40B4-BE49-F238E27FC236}">
                <a16:creationId xmlns:a16="http://schemas.microsoft.com/office/drawing/2014/main" id="{2816A510-EBE8-4500-8BC0-DA996AF9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875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Przygotować warianty</a:t>
            </a:r>
          </a:p>
        </p:txBody>
      </p:sp>
      <p:sp>
        <p:nvSpPr>
          <p:cNvPr id="15" name="next-detail-1">
            <a:extLst xmlns:a="http://schemas.openxmlformats.org/drawingml/2006/main">
              <a:ext uri="{FF2B5EF4-FFF2-40B4-BE49-F238E27FC236}">
                <a16:creationId xmlns:a16="http://schemas.microsoft.com/office/drawing/2014/main" id="{BA026E3F-611C-4C29-81E7-E2F5C396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5D6C72"/>
                </a:solidFill>
                <a:latin typeface="Avenir"/>
                <a:ea typeface="Avenir"/>
                <a:cs typeface="Avenir"/>
              </a:rPr>
              <a:t>Pokazać stawkę, zakres, założenia, dostępność i ryzyka każdego wariantu.</a:t>
            </a:r>
          </a:p>
        </p:txBody>
      </p:sp>
      <p:sp>
        <p:nvSpPr>
          <p:cNvPr id="16" name="next-rule-1">
            <a:extLst xmlns:a="http://schemas.openxmlformats.org/drawingml/2006/main">
              <a:ext uri="{FF2B5EF4-FFF2-40B4-BE49-F238E27FC236}">
                <a16:creationId xmlns:a16="http://schemas.microsoft.com/office/drawing/2014/main" id="{A00F14CB-D578-453C-A05D-38CDDE90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43350"/>
            <a:ext cx="9439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next-number-2">
            <a:extLst xmlns:a="http://schemas.openxmlformats.org/drawingml/2006/main">
              <a:ext uri="{FF2B5EF4-FFF2-40B4-BE49-F238E27FC236}">
                <a16:creationId xmlns:a16="http://schemas.microsoft.com/office/drawing/2014/main" id="{DD2712E0-07C4-4D6A-BC64-773732B3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666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2325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8" name="next-heading-2">
            <a:extLst xmlns:a="http://schemas.openxmlformats.org/drawingml/2006/main">
              <a:ext uri="{FF2B5EF4-FFF2-40B4-BE49-F238E27FC236}">
                <a16:creationId xmlns:a16="http://schemas.microsoft.com/office/drawing/2014/main" id="{A37B3158-08F0-473B-92D1-03F18A86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386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875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Omówić i zdecydować</a:t>
            </a:r>
          </a:p>
        </p:txBody>
      </p:sp>
      <p:sp>
        <p:nvSpPr>
          <p:cNvPr id="19" name="next-detail-2">
            <a:extLst xmlns:a="http://schemas.openxmlformats.org/drawingml/2006/main">
              <a:ext uri="{FF2B5EF4-FFF2-40B4-BE49-F238E27FC236}">
                <a16:creationId xmlns:a16="http://schemas.microsoft.com/office/drawing/2014/main" id="{D27CF6CC-B738-4612-A579-F10CAB2D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386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650">
                <a:solidFill>
                  <a:srgbClr val="5D6C72"/>
                </a:solidFill>
                <a:latin typeface="Avenir"/>
                <a:ea typeface="Avenir"/>
                <a:cs typeface="Avenir"/>
              </a:rPr>
              <a:t>Porównać całe warunki i uzgodnić dalszy krok z klientem.</a:t>
            </a:r>
          </a:p>
        </p:txBody>
      </p:sp>
      <p:sp>
        <p:nvSpPr>
          <p:cNvPr id="20" name="next-action-bar">
            <a:extLst xmlns:a="http://schemas.openxmlformats.org/drawingml/2006/main">
              <a:ext uri="{FF2B5EF4-FFF2-40B4-BE49-F238E27FC236}">
                <a16:creationId xmlns:a16="http://schemas.microsoft.com/office/drawing/2014/main" id="{A05370E3-F91A-4362-BA93-343A7284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47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ext-action-label">
            <a:extLst xmlns:a="http://schemas.openxmlformats.org/drawingml/2006/main">
              <a:ext uri="{FF2B5EF4-FFF2-40B4-BE49-F238E27FC236}">
                <a16:creationId xmlns:a16="http://schemas.microsoft.com/office/drawing/2014/main" id="{8BB24502-C450-4813-9605-FBACF427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7685E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27685E"/>
                </a:solidFill>
                <a:latin typeface="Avenir"/>
                <a:ea typeface="Avenir"/>
                <a:cs typeface="Avenir"/>
              </a:rPr>
              <a:t>NAJBLIŻSZE DZIAŁANIE</a:t>
            </a:r>
          </a:p>
        </p:txBody>
      </p:sp>
      <p:sp>
        <p:nvSpPr>
          <p:cNvPr id="22" name="next-action">
            <a:extLst xmlns:a="http://schemas.openxmlformats.org/drawingml/2006/main">
              <a:ext uri="{FF2B5EF4-FFF2-40B4-BE49-F238E27FC236}">
                <a16:creationId xmlns:a16="http://schemas.microsoft.com/office/drawing/2014/main" id="{A32D68AB-4E81-44BC-92C8-7EE5EC50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435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92C3A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192C3A"/>
                </a:solidFill>
                <a:latin typeface="Avenir"/>
                <a:ea typeface="Avenir"/>
                <a:cs typeface="Avenir"/>
              </a:rPr>
              <a:t>[uzgodnione działanie]   ·   [właściciel]   ·   [data]</a:t>
            </a:r>
          </a:p>
        </p:txBody>
      </p:sp>
      <p:sp>
        <p:nvSpPr>
          <p:cNvPr id="23" name="next-contact">
            <a:extLst xmlns:a="http://schemas.openxmlformats.org/drawingml/2006/main">
              <a:ext uri="{FF2B5EF4-FFF2-40B4-BE49-F238E27FC236}">
                <a16:creationId xmlns:a16="http://schemas.microsoft.com/office/drawing/2014/main" id="{C67AD1DF-A3EB-4B9B-A3FA-9FC9E1BC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>
              <a:defRPr sz="1275">
                <a:solidFill>
                  <a:srgbClr val="5D6C72"/>
                </a:solidFill>
                <a:latin typeface="Avenir"/>
                <a:ea typeface="Avenir"/>
                <a:cs typeface="Avenir"/>
              </a:defRPr>
            </a:pPr>
            <a:r>
              <a:rPr sz="1275">
                <a:solidFill>
                  <a:srgbClr val="5D6C72"/>
                </a:solidFill>
                <a:latin typeface="Avenir"/>
                <a:ea typeface="Avenir"/>
                <a:cs typeface="Avenir"/>
              </a:rPr>
              <a:t>Termin rozmowy: [data / godzina]    Kontakt: [imię / e-mail / telefon]</a:t>
            </a:r>
          </a:p>
        </p:txBody>
      </p:sp>
    </p:spTree>
    <p:extLst>
      <p:ext uri="{BB962C8B-B14F-4D97-AF65-F5344CB8AC3E}">
        <p14:creationId xmlns:p14="http://schemas.microsoft.com/office/powerpoint/2010/main" val="878803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2026-10-14T09:18:23.7140000Z</dcterms:created>
  <dcterms:modified xsi:type="dcterms:W3CDTF">2026-10-14T09:18:23.7140000Z</dcterms:modified>
</coreProperties>
</file>